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0f5fa241ee480e" /><Relationship Type="http://schemas.openxmlformats.org/officeDocument/2006/relationships/extended-properties" Target="/docProps/app.xml" Id="Ra64a8e73c7654560" /><Relationship Type="http://schemas.openxmlformats.org/officeDocument/2006/relationships/officeDocument" Target="/ppt/presentation.xml" Id="Rf2bc14ab274b43ab" /><Relationship Type="http://schemas.openxmlformats.org/officeDocument/2006/relationships/custom-properties" Target="/docProps/custom.xml" Id="R37579fccd38349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872c2fa3444ced"/>
  </p:sldMasterIdLst>
  <p:notesMasterIdLst>
    <p:notesMasterId xmlns:r="http://schemas.openxmlformats.org/officeDocument/2006/relationships" r:id="R1314021067944032"/>
  </p:notesMasterIdLst>
  <p:sldIdLst>
    <p:sldId xmlns:r="http://schemas.openxmlformats.org/officeDocument/2006/relationships" id="256" r:id="R4c8e08a80cbd4037"/>
    <p:sldId xmlns:r="http://schemas.openxmlformats.org/officeDocument/2006/relationships" id="257" r:id="Rb7721504587a4ff8"/>
    <p:sldId xmlns:r="http://schemas.openxmlformats.org/officeDocument/2006/relationships" id="258" r:id="Rcc3f4df7504e40b3"/>
    <p:sldId xmlns:r="http://schemas.openxmlformats.org/officeDocument/2006/relationships" id="259" r:id="R38dc66af3a0f4b6a"/>
    <p:sldId xmlns:r="http://schemas.openxmlformats.org/officeDocument/2006/relationships" id="260" r:id="R454015676c8f4c2c"/>
    <p:sldId xmlns:r="http://schemas.openxmlformats.org/officeDocument/2006/relationships" id="261" r:id="Rffb4a0eb4c384c58"/>
    <p:sldId xmlns:r="http://schemas.openxmlformats.org/officeDocument/2006/relationships" id="262" r:id="R8ca1a420092b4b06"/>
    <p:sldId xmlns:r="http://schemas.openxmlformats.org/officeDocument/2006/relationships" id="263" r:id="R9798eb9b697044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799d7778d34c0d" /><Relationship Type="http://schemas.openxmlformats.org/officeDocument/2006/relationships/slideMaster" Target="/ppt/slideMasters/slideMaster1.xml" Id="R0c872c2fa3444ced" /><Relationship Type="http://schemas.openxmlformats.org/officeDocument/2006/relationships/notesMaster" Target="/ppt/notesMasters/notesMaster1.xml" Id="R1314021067944032" /><Relationship Type="http://schemas.openxmlformats.org/officeDocument/2006/relationships/presProps" Target="/ppt/presProps.xml" Id="R2b4e676787ea42f1" /><Relationship Type="http://schemas.openxmlformats.org/officeDocument/2006/relationships/tableStyles" Target="/ppt/tableStyles.xml" Id="R8d4a8d0cb0344c0b" /><Relationship Type="http://schemas.openxmlformats.org/officeDocument/2006/relationships/slide" Target="/ppt/slides/slide1.xml" Id="R4c8e08a80cbd4037" /><Relationship Type="http://schemas.openxmlformats.org/officeDocument/2006/relationships/slide" Target="/ppt/slides/slide2.xml" Id="Rb7721504587a4ff8" /><Relationship Type="http://schemas.openxmlformats.org/officeDocument/2006/relationships/slide" Target="/ppt/slides/slide3.xml" Id="Rcc3f4df7504e40b3" /><Relationship Type="http://schemas.openxmlformats.org/officeDocument/2006/relationships/slide" Target="/ppt/slides/slide4.xml" Id="R38dc66af3a0f4b6a" /><Relationship Type="http://schemas.openxmlformats.org/officeDocument/2006/relationships/slide" Target="/ppt/slides/slide5.xml" Id="R454015676c8f4c2c" /><Relationship Type="http://schemas.openxmlformats.org/officeDocument/2006/relationships/slide" Target="/ppt/slides/slide6.xml" Id="Rffb4a0eb4c384c58" /><Relationship Type="http://schemas.openxmlformats.org/officeDocument/2006/relationships/slide" Target="/ppt/slides/slide7.xml" Id="R8ca1a420092b4b06" /><Relationship Type="http://schemas.openxmlformats.org/officeDocument/2006/relationships/slide" Target="/ppt/slides/slide8.xml" Id="R9798eb9b697044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43a3f35da548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030c33000d41c3" /><Relationship Type="http://schemas.openxmlformats.org/officeDocument/2006/relationships/notesMaster" Target="/ppt/notesMasters/notesMaster1.xml" Id="Rae9d5f3930f14d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189d58d9444cf2" /><Relationship Type="http://schemas.openxmlformats.org/officeDocument/2006/relationships/notesMaster" Target="/ppt/notesMasters/notesMaster1.xml" Id="R2288601e3d7343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7558d292084d9f" /><Relationship Type="http://schemas.openxmlformats.org/officeDocument/2006/relationships/notesMaster" Target="/ppt/notesMasters/notesMaster1.xml" Id="Rd48f6cd239ef41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368c756a5d479d" /><Relationship Type="http://schemas.openxmlformats.org/officeDocument/2006/relationships/notesMaster" Target="/ppt/notesMasters/notesMaster1.xml" Id="R9548f1d507eb4d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594c4bd07645e0" /><Relationship Type="http://schemas.openxmlformats.org/officeDocument/2006/relationships/notesMaster" Target="/ppt/notesMasters/notesMaster1.xml" Id="Rb58a866b00e548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1a0cb6efc74587" /><Relationship Type="http://schemas.openxmlformats.org/officeDocument/2006/relationships/notesMaster" Target="/ppt/notesMasters/notesMaster1.xml" Id="R8e65fd4804504e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f82460ac374f1e" /><Relationship Type="http://schemas.openxmlformats.org/officeDocument/2006/relationships/notesMaster" Target="/ppt/notesMasters/notesMaster1.xml" Id="R6045bc8616294e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aaeaeb82e044e9" /><Relationship Type="http://schemas.openxmlformats.org/officeDocument/2006/relationships/notesMaster" Target="/ppt/notesMasters/notesMaster1.xml" Id="R5e947cc399ac45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 15 秒内讲清产品名称、目标用户和核心价值，不要先介绍团队成员。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Techstars Master Your Pitch Worksheet — https://toolkit.techstars.com/master-your-pitch-worksheet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先讲用户要完成的任务，再用证据证明问题真实存在。避免只有抽象痛点，没有场景和证据。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Techstars Master Your Pitch Worksheet — https://toolkit.techstars.com/master-your-pitch-worksheet</a:t>
            </a:r>
          </a:p>
          <a:p xmlns:a="http://schemas.openxmlformats.org/drawingml/2006/main">
            <a:r>
              <a:t>- MIT Global AI Hackathon 2025 — https://raise.mit.edu/events/global-ai-hackathon-2025/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这一页讲方案逻辑，不要罗列所有页面和按钮。每个功能都要回答：为什么存在、带来什么改变。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Devpost: 6 Tips for Making a Winning Hackathon Demo Video — https://info.devpost.com/blog/6-tips-for-making-a-winning-hackathon-demo-video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 60–90 秒完成演示。不要只展示首页；要让评委看到真实输入、AI 处理与最终输出。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MIT Global AI Hackathon 2025 — https://raise.mit.edu/events/global-ai-hackathon-2025/</a:t>
            </a:r>
          </a:p>
          <a:p xmlns:a="http://schemas.openxmlformats.org/drawingml/2006/main">
            <a:r>
              <a:t>- Devpost: 6 Tips for Making a Winning Hackathon Demo Video — https://info.devpost.com/blog/6-tips-for-making-a-winning-hackathon-demo-video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 AI 的必要性、实现方式和风险控制。避免只放工具 Logo，也不要暗示 AI 独立完成了团队工作。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Imagine Cup FAQ — https://imaginecup.microsoft.com/en-us/support/faq</a:t>
            </a:r>
          </a:p>
          <a:p xmlns:a="http://schemas.openxmlformats.org/drawingml/2006/main">
            <a:r>
              <a:t>- MIT Global AI Hackathon 2025 — https://raise.mit.edu/events/global-ai-hackathon-2025/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创新可以来自用户洞察、工作流、交互方式或技术组合。比较时要保持对象和任务一致。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MIT Global AI Hackathon 2025 — https://raise.mit.edu/events/global-ai-hackathon-2025/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用真实测试、反馈或行为数据证明价值。若尚未验证，明确当前假设和下一步验证计划。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Imagine Cup FAQ — https://imaginecup.microsoft.com/en-us/support/faq</a:t>
            </a:r>
          </a:p>
          <a:p xmlns:a="http://schemas.openxmlformats.org/drawingml/2006/main">
            <a:r>
              <a:t>- Techstars Master Your Pitch Worksheet — https://toolkit.techstars.com/master-your-pitch-worksheet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用具体产出体现分工，不要只写 CEO、CTO 等头衔。结尾再次重申产品希望带来的改变，并邀请评委体验。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Techstars Master Your Pitch Worksheet — https://toolkit.techstars.com/master-your-pitch-worksheet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d9c256dc845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f9fb8025604f57" /><Relationship Type="http://schemas.openxmlformats.org/officeDocument/2006/relationships/slideLayout" Target="/ppt/slideLayouts/slideLayout1.xml" Id="R9b30f466458846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30f466458846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f06d7ba5b4ae0" /><Relationship Type="http://schemas.openxmlformats.org/officeDocument/2006/relationships/notesSlide" Target="/ppt/notesSlides/notesSlide1.xml" Id="R21a71f06575544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86326c63d4af1" /><Relationship Type="http://schemas.openxmlformats.org/officeDocument/2006/relationships/notesSlide" Target="/ppt/notesSlides/notesSlide2.xml" Id="R91622534605d4a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8a879bb12488c" /><Relationship Type="http://schemas.openxmlformats.org/officeDocument/2006/relationships/notesSlide" Target="/ppt/notesSlides/notesSlide3.xml" Id="Rd64c4fce691a4b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c8a19205e4327" /><Relationship Type="http://schemas.openxmlformats.org/officeDocument/2006/relationships/notesSlide" Target="/ppt/notesSlides/notesSlide4.xml" Id="R0980940632ec4a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23bd4a2ea4a7f" /><Relationship Type="http://schemas.openxmlformats.org/officeDocument/2006/relationships/notesSlide" Target="/ppt/notesSlides/notesSlide5.xml" Id="Rcf9b1422f3074a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b2d29f3e74949" /><Relationship Type="http://schemas.openxmlformats.org/officeDocument/2006/relationships/notesSlide" Target="/ppt/notesSlides/notesSlide6.xml" Id="R3f8d4e92bc0745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c7056ca2747c0" /><Relationship Type="http://schemas.openxmlformats.org/officeDocument/2006/relationships/notesSlide" Target="/ppt/notesSlides/notesSlide7.xml" Id="Rb4934a6136d542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8b76687e341f7" /><Relationship Type="http://schemas.openxmlformats.org/officeDocument/2006/relationships/notesSlide" Target="/ppt/notesSlides/notesSlide8.xml" Id="Rd9e5ceb1d2ee44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4B79D8D-B34D-4E34-B871-594E4735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9CA3A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532EF0C-D1F6-41E1-8A25-C4DECAD1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3400"/>
            <a:ext cx="11404568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AIY HACKATHON · 路演模板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E357C996-F7BF-40AC-B49C-532122C7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BC3C8176-E88B-4AD1-B860-67B79E96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cover-product-name">
            <a:extLst xmlns:a="http://schemas.openxmlformats.org/drawingml/2006/main">
              <a:ext uri="{FF2B5EF4-FFF2-40B4-BE49-F238E27FC236}">
                <a16:creationId xmlns:a16="http://schemas.microsoft.com/office/drawing/2014/main" id="{AD1DA327-18A9-4C84-9C37-226B65D8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8300"/>
            <a:ext cx="5381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0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[产品名称]</a:t>
            </a:r>
          </a:p>
        </p:txBody>
      </p:sp>
      <p:sp>
        <p:nvSpPr>
          <p:cNvPr id="7" name="cover-one-liner">
            <a:extLst xmlns:a="http://schemas.openxmlformats.org/drawingml/2006/main">
              <a:ext uri="{FF2B5EF4-FFF2-40B4-BE49-F238E27FC236}">
                <a16:creationId xmlns:a16="http://schemas.microsoft.com/office/drawing/2014/main" id="{1B13F811-272E-4225-95D7-EE19366A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5381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为 [目标用户] 解决 [核心问题] 的 AI [产品类型]</a:t>
            </a:r>
          </a:p>
        </p:txBody>
      </p:sp>
      <p:sp>
        <p:nvSpPr>
          <p:cNvPr id="8" name="cover-team">
            <a:extLst xmlns:a="http://schemas.openxmlformats.org/drawingml/2006/main">
              <a:ext uri="{FF2B5EF4-FFF2-40B4-BE49-F238E27FC236}">
                <a16:creationId xmlns:a16="http://schemas.microsoft.com/office/drawing/2014/main" id="{DB8F2CE4-F7AD-4CC9-9419-AEDADA92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7680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 b="1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[团队名称]  ·  [学校 / 机构]</a:t>
            </a:r>
          </a:p>
        </p:txBody>
      </p:sp>
      <p:sp>
        <p:nvSpPr>
          <p:cNvPr id="9" name="cover-image-placeholder">
            <a:extLst xmlns:a="http://schemas.openxmlformats.org/drawingml/2006/main">
              <a:ext uri="{FF2B5EF4-FFF2-40B4-BE49-F238E27FC236}">
                <a16:creationId xmlns:a16="http://schemas.microsoft.com/office/drawing/2014/main" id="{9E4CACE8-7791-449A-A618-65BA2BA7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4048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00" b="1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00" b="1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替换为</a:t>
            </a:r>
          </a:p>
          <a:p xmlns:a="http://schemas.openxmlformats.org/drawingml/2006/main">
            <a:pPr algn="ctr">
              <a:defRPr sz="2200" b="1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00" b="1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产品主界面 / 核心场景图</a:t>
            </a:r>
          </a:p>
        </p:txBody>
      </p:sp>
      <p:sp>
        <p:nvSpPr>
          <p:cNvPr id="10" name="hint-h62h19">
            <a:extLst xmlns:a="http://schemas.openxmlformats.org/drawingml/2006/main">
              <a:ext uri="{FF2B5EF4-FFF2-40B4-BE49-F238E27FC236}">
                <a16:creationId xmlns:a16="http://schemas.microsoft.com/office/drawing/2014/main" id="{626319CF-90F4-4084-9C35-299B516B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865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填写提示｜用一句话说清“为谁、解决什么、是什么产品”；替换 [ ] 内文字。正式路演前删除本行提示。 </a:t>
            </a:r>
          </a:p>
        </p:txBody>
      </p:sp>
    </p:spTree>
    <p:extLst>
      <p:ext uri="{BB962C8B-B14F-4D97-AF65-F5344CB8AC3E}">
        <p14:creationId xmlns:p14="http://schemas.microsoft.com/office/powerpoint/2010/main" val="1546606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FD6E799-E6D9-453E-81C3-F91D9782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9CA3A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8037298-8AC7-4AEB-A392-BE42096A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519"/>
            <a:ext cx="108108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[目标用户] 在 [具体场景] 中，正面临 [核心问题]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4310445B-410D-4C25-8FC8-8452C5B5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61FA794-7F12-44D8-99C1-F66C7561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[现有做法]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A9CE8EDB-A308-4EC6-942A-782F99FC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证据 01｜[访谈 / 问卷 / 观察]</a:t>
            </a:r>
          </a:p>
          <a:p xmlns:a="http://schemas.openxmlformats.org/drawingml/2006/main">
            <a:pPr algn="l">
              <a:def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[一句关键发现]</a:t>
            </a:r>
          </a:p>
          <a:p xmlns:a="http://schemas.openxmlformats.org/drawingml/2006/main">
            <a:pPr algn="l">
              <a:def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[数据、行为或用户原话]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15D8ABC3-B6D1-4CB3-9BA8-2B1BF048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AEF25D9-B6C3-450C-B172-CEF94CEB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[为什么不够]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F96A14D-6CF3-4DD9-8F5B-06B0B560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证据 02｜[访谈 / 问卷 / 观察]</a:t>
            </a:r>
          </a:p>
          <a:p xmlns:a="http://schemas.openxmlformats.org/drawingml/2006/main">
            <a:pPr algn="l">
              <a:def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[一句关键发现]</a:t>
            </a:r>
          </a:p>
          <a:p xmlns:a="http://schemas.openxmlformats.org/drawingml/2006/main">
            <a:pPr algn="l">
              <a:def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[数据、行为或用户原话]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C98FC14-90E4-4A36-B420-D0F20319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用户想要：[用户目标]</a:t>
            </a:r>
          </a:p>
          <a:p xmlns:a="http://schemas.openxmlformats.org/drawingml/2006/main">
            <a:pPr algn="l">
              <a:defRPr sz="18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但是：[真正阻碍]</a:t>
            </a:r>
          </a:p>
          <a:p xmlns:a="http://schemas.openxmlformats.org/drawingml/2006/main">
            <a:pPr algn="l">
              <a:defRPr sz="18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最终导致：[具体后果]</a:t>
            </a:r>
          </a:p>
        </p:txBody>
      </p:sp>
      <p:sp>
        <p:nvSpPr>
          <p:cNvPr id="10" name="accent-a7jllz">
            <a:extLst xmlns:a="http://schemas.openxmlformats.org/drawingml/2006/main">
              <a:ext uri="{FF2B5EF4-FFF2-40B4-BE49-F238E27FC236}">
                <a16:creationId xmlns:a16="http://schemas.microsoft.com/office/drawing/2014/main" id="{19C0D5A2-7003-4C6D-BCC6-74D102DB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hint-a7jllz">
            <a:extLst xmlns:a="http://schemas.openxmlformats.org/drawingml/2006/main">
              <a:ext uri="{FF2B5EF4-FFF2-40B4-BE49-F238E27FC236}">
                <a16:creationId xmlns:a16="http://schemas.microsoft.com/office/drawing/2014/main" id="{7B55B400-1693-4452-9C81-8BF18A79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865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填写提示｜不要写“面向所有人”。用户、场景和问题越具体，方案越可信。 </a:t>
            </a:r>
          </a:p>
        </p:txBody>
      </p:sp>
    </p:spTree>
    <p:extLst>
      <p:ext uri="{BB962C8B-B14F-4D97-AF65-F5344CB8AC3E}">
        <p14:creationId xmlns:p14="http://schemas.microsoft.com/office/powerpoint/2010/main" val="687308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591E9F0-0AFB-426A-AC8D-CE289979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9CA3A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1C9F3FB-86D9-4A2F-B602-56A5AD9F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043"/>
            <a:ext cx="108108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我们的产品通过 [核心机制]，帮助用户 [实现结果]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E4D46F14-E872-411E-B09F-C64EB708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01｜[核心功能一]</a:t>
            </a:r>
          </a:p>
          <a:p xmlns:a="http://schemas.openxmlformats.org/drawingml/2006/main">
            <a:pPr algn="l">
              <a:def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对应问题：[……]
用户获得：[……]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4F6C3EC6-0C3B-4FA7-B2D1-5DE7E99A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03｜[核心功能三]</a:t>
            </a:r>
          </a:p>
          <a:p xmlns:a="http://schemas.openxmlformats.org/drawingml/2006/main">
            <a:pPr algn="l">
              <a:def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对应问题：[……]
用户获得：[……]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8F7A3763-8D47-44A3-AAE8-2CA34828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02｜[核心功能二]</a:t>
            </a:r>
          </a:p>
          <a:p xmlns:a="http://schemas.openxmlformats.org/drawingml/2006/main">
            <a:pPr algn="l">
              <a:def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对应问题：[……]
用户获得：[……]</a:t>
            </a:r>
          </a:p>
        </p:txBody>
      </p:sp>
      <p:sp>
        <p:nvSpPr>
          <p:cNvPr id="6" name="accent-2zgeae">
            <a:extLst xmlns:a="http://schemas.openxmlformats.org/drawingml/2006/main">
              <a:ext uri="{FF2B5EF4-FFF2-40B4-BE49-F238E27FC236}">
                <a16:creationId xmlns:a16="http://schemas.microsoft.com/office/drawing/2014/main" id="{3DD02584-2281-4F84-9416-A806F6A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solution-summary">
            <a:extLst xmlns:a="http://schemas.openxmlformats.org/drawingml/2006/main">
              <a:ext uri="{FF2B5EF4-FFF2-40B4-BE49-F238E27FC236}">
                <a16:creationId xmlns:a16="http://schemas.microsoft.com/office/drawing/2014/main" id="{CF7DF7FF-09C7-4722-B9C1-A967B845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14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产品形态：[App / 网页 / Agent / 小程序 / 智能硬件]</a:t>
            </a:r>
          </a:p>
          <a:p xmlns:a="http://schemas.openxmlformats.org/drawingml/2006/main">
            <a:pPr algn="l">
              <a:defRPr sz="20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核心方案：[用一句话说明产品如何解决问题]</a:t>
            </a:r>
          </a:p>
        </p:txBody>
      </p:sp>
      <p:sp>
        <p:nvSpPr>
          <p:cNvPr id="8" name="hint-2zgeae">
            <a:extLst xmlns:a="http://schemas.openxmlformats.org/drawingml/2006/main">
              <a:ext uri="{FF2B5EF4-FFF2-40B4-BE49-F238E27FC236}">
                <a16:creationId xmlns:a16="http://schemas.microsoft.com/office/drawing/2014/main" id="{06828263-4DC8-41DE-8989-6C7503FD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865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填写提示｜只保留 2–3 个核心功能；每个功能都要对应上一页的真实问题。 </a:t>
            </a:r>
          </a:p>
        </p:txBody>
      </p:sp>
    </p:spTree>
    <p:extLst>
      <p:ext uri="{BB962C8B-B14F-4D97-AF65-F5344CB8AC3E}">
        <p14:creationId xmlns:p14="http://schemas.microsoft.com/office/powerpoint/2010/main" val="1617560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A037F99-BC65-47E2-B1D7-3B802B35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9CA3A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7ADEB0A-4489-4EC1-BB5B-B6BA587E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043"/>
            <a:ext cx="108108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用户只需 [核心操作]，就能获得 [关键结果]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04EBA64-96CB-481F-AB3D-946900CA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040EFC9-AC4D-4344-B0DD-B684C14B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9918E09-F7F8-4326-A48D-F925849C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CEE1229F-8F2A-4977-B32D-35A0C6EC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D74BCC57-A08B-47D1-8AEA-8F8177E2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[产品截图 1]</a:t>
            </a:r>
          </a:p>
          <a:p xmlns:a="http://schemas.openxmlformats.org/drawingml/2006/main">
            <a:pPr algn="ctr">
              <a:defRPr sz="17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展示用户输入、上传或触发任务的界面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B2A36861-D192-4386-BF36-8E17E734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A5C88029-29A6-490C-9204-C4486FEF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[产品截图 2]</a:t>
            </a:r>
          </a:p>
          <a:p xmlns:a="http://schemas.openxmlformats.org/drawingml/2006/main">
            <a:pPr algn="ctr">
              <a:defRPr sz="17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展示 AI 分析、识别、生成或调用工具的过程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DF3C3D66-6B6B-44F6-A014-B1998A67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060102BD-34EB-4759-8587-E2D8B6C2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[产品截图 3]</a:t>
            </a:r>
          </a:p>
          <a:p xmlns:a="http://schemas.openxmlformats.org/drawingml/2006/main">
            <a:pPr algn="ctr">
              <a:defRPr sz="17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展示用户最终获得的结果与下一步行动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DB66DC4B-26AF-4506-8957-839E7659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02  AI 处理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10552357-7D7F-4321-AB17-90655624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01  输入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6D0B7CD3-98EA-4483-8170-C9329A29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03  结果</a:t>
            </a:r>
          </a:p>
        </p:txBody>
      </p:sp>
      <p:sp>
        <p:nvSpPr>
          <p:cNvPr id="16" name="accent-4efkfo">
            <a:extLst xmlns:a="http://schemas.openxmlformats.org/drawingml/2006/main">
              <a:ext uri="{FF2B5EF4-FFF2-40B4-BE49-F238E27FC236}">
                <a16:creationId xmlns:a16="http://schemas.microsoft.com/office/drawing/2014/main" id="{C64737A5-4301-43E8-8D07-439FB1B1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hint-4efkfo">
            <a:extLst xmlns:a="http://schemas.openxmlformats.org/drawingml/2006/main">
              <a:ext uri="{FF2B5EF4-FFF2-40B4-BE49-F238E27FC236}">
                <a16:creationId xmlns:a16="http://schemas.microsoft.com/office/drawing/2014/main" id="{1174FFD8-D778-43FB-B064-0BC0429C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865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填写提示｜正式路演建议配合录屏或现场演示：用一个真实输入跑通完整任务。 </a:t>
            </a:r>
          </a:p>
        </p:txBody>
      </p:sp>
      <p:sp>
        <p:nvSpPr>
          <p:cNvPr id="18" name="accent-slide4-top">
            <a:extLst xmlns:a="http://schemas.openxmlformats.org/drawingml/2006/main">
              <a:ext uri="{FF2B5EF4-FFF2-40B4-BE49-F238E27FC236}">
                <a16:creationId xmlns:a16="http://schemas.microsoft.com/office/drawing/2014/main" id="{DE676475-8236-45B8-A369-E0DCCEA9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1470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A3C1E42-A977-420F-A221-EEAFBDAB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9CA3A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6B73E74-4405-4C79-B3F2-54A38842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043"/>
            <a:ext cx="108108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AI 在 [关键环节] 完成了传统程序难以完成的任务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960BC64-71EC-43DE-B1A8-29B58D51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不要只罗列工具名称：</a:t>
            </a:r>
          </a:p>
          <a:p xmlns:a="http://schemas.openxmlformats.org/drawingml/2006/main">
            <a:pPr algn="l">
              <a:defRPr sz="16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说明 AI 做了什么、团队做了什么，以及如何检查输出。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accent-jip20k">
            <a:extLst xmlns:a="http://schemas.openxmlformats.org/drawingml/2006/main">
              <a:ext uri="{FF2B5EF4-FFF2-40B4-BE49-F238E27FC236}">
                <a16:creationId xmlns:a16="http://schemas.microsoft.com/office/drawing/2014/main" id="{3E55BA5D-CB70-4528-BEBB-42E9811F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ai-table-cover">
            <a:extLst xmlns:a="http://schemas.openxmlformats.org/drawingml/2006/main">
              <a:ext uri="{FF2B5EF4-FFF2-40B4-BE49-F238E27FC236}">
                <a16:creationId xmlns:a16="http://schemas.microsoft.com/office/drawing/2014/main" id="{9A7D4589-C72D-4C54-9771-724845BE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43125"/>
            <a:ext cx="11468100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393668" y="2266950"/>
          <a:ext xmlns:a="http://schemas.openxmlformats.org/drawingml/2006/main" cx="11404568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333625"/>
                <a:gridCol w="3000375"/>
                <a:gridCol w="4070318"/>
              </a:tblGrid>
              <a:tr h="6134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产品任务</a:t>
                      </a:r>
                    </a:p>
                  </a:txBody>
                  <a:tcPr marL="114300" marR="114300" marT="76200" marB="7620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AI 工具 / 模型</a:t>
                      </a:r>
                    </a:p>
                  </a:txBody>
                  <a:tcPr marL="114300" marR="114300" marT="76200" marB="7620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AI 完成的工作</a:t>
                      </a:r>
                    </a:p>
                  </a:txBody>
                  <a:tcPr marL="114300" marR="114300" marT="76200" marB="7620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团队的设计与校验</a:t>
                      </a:r>
                    </a:p>
                  </a:txBody>
                  <a:tcPr marL="114300" marR="114300" marT="76200" marB="76200" anchor="ctr">
                    <a:solidFill>
                      <a:srgbClr val="111827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[任务一]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[工具 / 模型]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[理解 / 生成 / 识别 / 推理]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[提示词、工作流、知识库、人工复核]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[任务二]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[工具 / 模型]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[AI 的具体作用]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[团队完成的关键设计]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[任务三]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[工具 / 模型]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[AI 的具体作用]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[如何检查输出是否可靠]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[任务四，可删除]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[工具 / 模型]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[AI 的具体作用]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[隐私、安全、偏见或边界设置]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ai-need-and-risk">
            <a:extLst xmlns:a="http://schemas.openxmlformats.org/drawingml/2006/main">
              <a:ext uri="{FF2B5EF4-FFF2-40B4-BE49-F238E27FC236}">
                <a16:creationId xmlns:a16="http://schemas.microsoft.com/office/drawing/2014/main" id="{521ACDA3-174A-42F4-AB84-12F1A718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543550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为什么需要 AI：[自然语言理解 / 图像识别 / 个性化生成 / 多步骤推理]</a:t>
            </a:r>
          </a:p>
          <a:p xmlns:a="http://schemas.openxmlformats.org/drawingml/2006/main">
            <a:pPr algn="l">
              <a:defRPr sz="14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风险控制：[隐私 / 幻觉 / 偏见 / 不当输出 / 人工复核]</a:t>
            </a:r>
          </a:p>
        </p:txBody>
      </p:sp>
      <p:sp>
        <p:nvSpPr>
          <p:cNvPr id="9" name="hint-jip20k">
            <a:extLst xmlns:a="http://schemas.openxmlformats.org/drawingml/2006/main">
              <a:ext uri="{FF2B5EF4-FFF2-40B4-BE49-F238E27FC236}">
                <a16:creationId xmlns:a16="http://schemas.microsoft.com/office/drawing/2014/main" id="{15F7EFEB-A8C7-4E22-964C-DF4E759E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865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填写提示｜工具不是亮点；“为什么需要 AI”以及团队如何设计和校验，才体现技术理解。 </a:t>
            </a:r>
          </a:p>
        </p:txBody>
      </p:sp>
    </p:spTree>
    <p:extLst>
      <p:ext uri="{BB962C8B-B14F-4D97-AF65-F5344CB8AC3E}">
        <p14:creationId xmlns:p14="http://schemas.microsoft.com/office/powerpoint/2010/main" val="1232338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824BF63-47D0-47BE-BC89-CB36F07D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9CA3A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28CF300-8D9D-491B-AA44-E716333D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519"/>
            <a:ext cx="108108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与现有方法相比，我们的不同在于 [核心创新]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328F75E3-2BD6-43AF-8436-889694A2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3052E78-9504-4332-96F2-DC45DC9B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00" b="1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[现有方式]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8B73260B-DD5F-467C-AE90-4373108B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完成方式：[……]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使用门槛：[……]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用户结果：[……]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A40AB814-B608-415A-87F6-24D637B1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8295BD8-8B57-4BC6-9BFB-1C5E1B7D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[我们的产品]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261AD59-434F-4024-A6F2-43F0DBCC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创新 01｜[……]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创新 02｜[……]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创新 03｜[……]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49C8A70-143F-4895-A170-E99594E6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比较对象：[现有方法 / 同类产品]</a:t>
            </a:r>
          </a:p>
          <a:p xmlns:a="http://schemas.openxmlformats.org/drawingml/2006/main">
            <a:pPr algn="l">
              <a:def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真正的创新不只是“用了 AI”，</a:t>
            </a:r>
          </a:p>
          <a:p xmlns:a="http://schemas.openxmlformats.org/drawingml/2006/main">
            <a:pPr algn="l">
              <a:def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而是用户因此获得了更好的结果。</a:t>
            </a:r>
          </a:p>
        </p:txBody>
      </p:sp>
      <p:sp>
        <p:nvSpPr>
          <p:cNvPr id="10" name="accent-pp38tu">
            <a:extLst xmlns:a="http://schemas.openxmlformats.org/drawingml/2006/main">
              <a:ext uri="{FF2B5EF4-FFF2-40B4-BE49-F238E27FC236}">
                <a16:creationId xmlns:a16="http://schemas.microsoft.com/office/drawing/2014/main" id="{CF4C6C53-FB71-42D0-B556-D2FC068B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innovation-detail-cover">
            <a:extLst xmlns:a="http://schemas.openxmlformats.org/drawingml/2006/main">
              <a:ext uri="{FF2B5EF4-FFF2-40B4-BE49-F238E27FC236}">
                <a16:creationId xmlns:a16="http://schemas.microsoft.com/office/drawing/2014/main" id="{7AF7832E-1D2C-4432-99C1-6FD51F1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95825"/>
            <a:ext cx="11410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innovation-left-details">
            <a:extLst xmlns:a="http://schemas.openxmlformats.org/drawingml/2006/main">
              <a:ext uri="{FF2B5EF4-FFF2-40B4-BE49-F238E27FC236}">
                <a16:creationId xmlns:a16="http://schemas.microsoft.com/office/drawing/2014/main" id="{BEC4603C-4088-4AFC-A320-00992387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完成方式：[……]</a:t>
            </a:r>
          </a:p>
          <a:p xmlns:a="http://schemas.openxmlformats.org/drawingml/2006/main">
            <a:pPr algn="l">
              <a:defRPr sz="14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使用门槛：[……]</a:t>
            </a:r>
          </a:p>
          <a:p xmlns:a="http://schemas.openxmlformats.org/drawingml/2006/main">
            <a:pPr algn="l">
              <a:defRPr sz="14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 b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用户结果：[……]</a:t>
            </a:r>
          </a:p>
        </p:txBody>
      </p:sp>
      <p:sp>
        <p:nvSpPr>
          <p:cNvPr id="13" name="innovation-right-details">
            <a:extLst xmlns:a="http://schemas.openxmlformats.org/drawingml/2006/main">
              <a:ext uri="{FF2B5EF4-FFF2-40B4-BE49-F238E27FC236}">
                <a16:creationId xmlns:a16="http://schemas.microsoft.com/office/drawing/2014/main" id="{A4548223-828A-444A-B150-94C95251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创新 01｜[……]</a:t>
            </a:r>
          </a:p>
          <a:p xmlns:a="http://schemas.openxmlformats.org/drawingml/2006/main">
            <a:pPr algn="l">
              <a:defRPr sz="14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创新 02｜[……]</a:t>
            </a:r>
          </a:p>
          <a:p xmlns:a="http://schemas.openxmlformats.org/drawingml/2006/main">
            <a:pPr algn="l">
              <a:defRPr sz="14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 b="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创新 03｜[……]</a:t>
            </a:r>
          </a:p>
        </p:txBody>
      </p:sp>
      <p:sp>
        <p:nvSpPr>
          <p:cNvPr id="14" name="hint-pp38tu">
            <a:extLst xmlns:a="http://schemas.openxmlformats.org/drawingml/2006/main">
              <a:ext uri="{FF2B5EF4-FFF2-40B4-BE49-F238E27FC236}">
                <a16:creationId xmlns:a16="http://schemas.microsoft.com/office/drawing/2014/main" id="{B5F1F087-4887-41FF-B178-0AE14D21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865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填写提示｜请选择同一用户、同一任务进行比较；不要只写“更智能、更方便、功能更多”。 </a:t>
            </a:r>
          </a:p>
        </p:txBody>
      </p:sp>
    </p:spTree>
    <p:extLst>
      <p:ext uri="{BB962C8B-B14F-4D97-AF65-F5344CB8AC3E}">
        <p14:creationId xmlns:p14="http://schemas.microsoft.com/office/powerpoint/2010/main" val="1914346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DCD5331A-64C2-4ADC-8EA6-36A6E56C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E198DAF-8ADF-489D-9BC3-A6A4E64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A5B48CA-6DAE-4BA5-90D6-92965FDA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00414D6E-EEB8-4576-A825-29EF7159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9CA3A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F15A9F8B-BAC8-404D-A37D-4B805D3B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043"/>
            <a:ext cx="108108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初步验证表明，产品能够帮助用户 [具体改变]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3B72F3B-E694-4EFD-AAB9-E7A1E713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参与测试
[对象与范围]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FA5D32A-9237-4850-9833-36826B06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平均节省时间
[对比基准]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941F6A3F-C2EE-45FC-BD12-64ABFDB0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完成核心任务
[成功标准]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87DD94D-5161-416F-A669-2B07BEF1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[__] 人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36DFD043-0055-4625-86E2-6FAFFBC3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[__] 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A1E4E43-2815-43F4-AC1D-E1D8CD87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[__] 分钟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6B552B4-61F2-41E6-A4F6-24A1E0B6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验证方式：[访谈 / 问卷 / 可用性测试 / 实际使用]</a:t>
            </a:r>
          </a:p>
          <a:p xmlns:a="http://schemas.openxmlformats.org/drawingml/2006/main">
            <a:pPr algn="l">
              <a:def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已完成：[测试对象与数量]　·　下一步：[最关键的改进]</a:t>
            </a:r>
          </a:p>
        </p:txBody>
      </p:sp>
      <p:sp>
        <p:nvSpPr>
          <p:cNvPr id="13" name="accent-4r2hji">
            <a:extLst xmlns:a="http://schemas.openxmlformats.org/drawingml/2006/main">
              <a:ext uri="{FF2B5EF4-FFF2-40B4-BE49-F238E27FC236}">
                <a16:creationId xmlns:a16="http://schemas.microsoft.com/office/drawing/2014/main" id="{6D875436-AB8B-4121-AB72-F5B7E24D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hint-4r2hji">
            <a:extLst xmlns:a="http://schemas.openxmlformats.org/drawingml/2006/main">
              <a:ext uri="{FF2B5EF4-FFF2-40B4-BE49-F238E27FC236}">
                <a16:creationId xmlns:a16="http://schemas.microsoft.com/office/drawing/2014/main" id="{7CFF671C-D6F4-48C0-822B-A2B56A9F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865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填写提示｜没有数据时写“待验证”，不要编造数字；价值要写成用户发生了什么改变。 </a:t>
            </a:r>
          </a:p>
        </p:txBody>
      </p:sp>
    </p:spTree>
    <p:extLst>
      <p:ext uri="{BB962C8B-B14F-4D97-AF65-F5344CB8AC3E}">
        <p14:creationId xmlns:p14="http://schemas.microsoft.com/office/powerpoint/2010/main" val="13421869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11F2A03-77E6-4D45-8100-8861DB32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9CA3A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F2753EA-8704-4189-A60A-AA693DB9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043"/>
            <a:ext cx="108108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我们用不同能力，共同完成了 [产品名称]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6BE912E6-FA53-4793-9909-A4BF15D3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实际完成</a:t>
            </a:r>
          </a:p>
          <a:p xmlns:a="http://schemas.openxmlformats.org/drawingml/2006/main">
            <a:pPr algn="l">
              <a:def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[具体产出]
[协作贡献]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1292491F-6027-44C6-9B23-93623C51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实际完成</a:t>
            </a:r>
          </a:p>
          <a:p xmlns:a="http://schemas.openxmlformats.org/drawingml/2006/main">
            <a:pPr algn="l">
              <a:def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[具体产出]
[协作贡献]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8D6B61B0-07E6-45B5-9F48-723DE7B3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实际完成</a:t>
            </a:r>
          </a:p>
          <a:p xmlns:a="http://schemas.openxmlformats.org/drawingml/2006/main">
            <a:pPr algn="l">
              <a:def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[具体产出]
[协作贡献]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D44AC031-A123-4D24-AA30-B59A3449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实际完成</a:t>
            </a:r>
          </a:p>
          <a:p xmlns:a="http://schemas.openxmlformats.org/drawingml/2006/main">
            <a:pPr algn="l">
              <a:def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[具体产出]
[协作贡献]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FC42D91-5F13-4CC9-8E84-ECB88D93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[成员一姓名]</a:t>
            </a:r>
          </a:p>
          <a:p xmlns:a="http://schemas.openxmlformats.org/drawingml/2006/main">
            <a:pPr algn="l">
              <a:def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[主要角色]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B4A327FA-03A1-411B-AD13-4AEF9815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[成员二姓名]</a:t>
            </a:r>
          </a:p>
          <a:p xmlns:a="http://schemas.openxmlformats.org/drawingml/2006/main">
            <a:pPr algn="l">
              <a:def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[主要角色]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710ACEA7-37AC-432D-B011-7B00FDC8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[成员三姓名]</a:t>
            </a:r>
          </a:p>
          <a:p xmlns:a="http://schemas.openxmlformats.org/drawingml/2006/main">
            <a:pPr algn="l">
              <a:def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[主要角色]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F09DC6F0-1E18-456D-BE66-4F4ED854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[成员四姓名]</a:t>
            </a:r>
          </a:p>
          <a:p xmlns:a="http://schemas.openxmlformats.org/drawingml/2006/main">
            <a:pPr algn="l">
              <a:def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00" b="1">
                <a:solidFill>
                  <a:srgbClr val="111827"/>
                </a:solidFill>
                <a:latin typeface="Noto Sans CJK SC"/>
                <a:ea typeface="Noto Sans CJK SC"/>
                <a:cs typeface="Noto Sans CJK SC"/>
              </a:rPr>
              <a:t>[主要角色]</a:t>
            </a:r>
          </a:p>
        </p:txBody>
      </p:sp>
      <p:sp>
        <p:nvSpPr>
          <p:cNvPr id="11" name="accent-0r5auf">
            <a:extLst xmlns:a="http://schemas.openxmlformats.org/drawingml/2006/main">
              <a:ext uri="{FF2B5EF4-FFF2-40B4-BE49-F238E27FC236}">
                <a16:creationId xmlns:a16="http://schemas.microsoft.com/office/drawing/2014/main" id="{D3FB1774-17E8-44D1-B8FC-948AC148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35A3199B-D3DA-4521-8B66-CA243CD3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3405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[产品名称] 希望通过 [核心方案]，让 [目标用户] 能够 [最终改变]。</a:t>
            </a:r>
          </a:p>
        </p:txBody>
      </p:sp>
      <p:sp>
        <p:nvSpPr>
          <p:cNvPr id="13" name="qr-placeholder">
            <a:extLst xmlns:a="http://schemas.openxmlformats.org/drawingml/2006/main">
              <a:ext uri="{FF2B5EF4-FFF2-40B4-BE49-F238E27FC236}">
                <a16:creationId xmlns:a16="http://schemas.microsoft.com/office/drawing/2014/main" id="{406C79F5-E6CB-4585-BD81-B2E31E6D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24500"/>
            <a:ext cx="876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qr-placeholder-text">
            <a:extLst xmlns:a="http://schemas.openxmlformats.org/drawingml/2006/main">
              <a:ext uri="{FF2B5EF4-FFF2-40B4-BE49-F238E27FC236}">
                <a16:creationId xmlns:a16="http://schemas.microsoft.com/office/drawing/2014/main" id="{C6D5CF3C-7578-4027-B0A7-C2E28AA8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62600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产品体验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二维码</a:t>
            </a:r>
          </a:p>
        </p:txBody>
      </p:sp>
    </p:spTree>
    <p:extLst>
      <p:ext uri="{BB962C8B-B14F-4D97-AF65-F5344CB8AC3E}">
        <p14:creationId xmlns:p14="http://schemas.microsoft.com/office/powerpoint/2010/main" val="7287908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2026-08-03T07:25:47.0840000Z</dcterms:created>
  <dcterms:modified xsi:type="dcterms:W3CDTF">2026-08-03T07:25:47.0840000Z</dcterms:modified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_IPGFID">
    <vt:lpwstr>[DocID]=98FEC41F-5153-DD47-B43E-639F723E5E4D</vt:lpwstr>
  </op:property>
  <op:property fmtid="{D5CDD505-2E9C-101B-9397-08002B2CF9AE}" pid="3" name="_IPGFLOW_P-BEED_E-0_CV-88520CEC_CN-B2E9DFA0">
    <vt:lpwstr>DPFPMK|3|50|1|0</vt:lpwstr>
  </op:property>
  <op:property fmtid="{D5CDD505-2E9C-101B-9397-08002B2CF9AE}" pid="4" name="_IPGFLOW_P-BEED_E-0_FP-1_CV-FB4CA461_CN-F4213517">
    <vt:lpwstr>DPSPMK|3|408|2|0</vt:lpwstr>
  </op:property>
  <op:property fmtid="{D5CDD505-2E9C-101B-9397-08002B2CF9AE}" pid="5" name="_IPGFLOW_P-BEED_E-1_FP-1_SP-1_CV-ADF982F5_CN-FBAE2100">
    <vt:lpwstr>1wTyw4SqbYCbVsruli8cNHGP/mRmK/skOHiam8hF7x/ihLZf6fXPybLDkEJp4rsV0XyWuqCa/MwmtyaKHSgMYmms9buNKy962ndsbFviOdjkaYzOkt1DF6QhDf4iuDo38YLH/+WtjC3JEmyeT57aLkZsflytxIfzOJz/lqXgu8tk4SP6rc7jE6hLYK3gDd7YqmYKPMdhJDqX6J22KM90jVfVMsdfnlz949+rP/cTlBeIyTDHgS25+7JsAm70W87</vt:lpwstr>
  </op:property>
  <op:property fmtid="{D5CDD505-2E9C-101B-9397-08002B2CF9AE}" pid="6" name="_IPGFLOW_P-BEED_E-1_FP-1_SP-2_CV-BF57630F_CN-3C8679F8">
    <vt:lpwstr>JWUFPY4bz9OuZN0sk/aKvhaz5S9OhuDDFuHvcipKnLCOZskBzSbpQmWQpW9TwynEdIVoCWuSjCkFpezqjQ6ZVcubJfSd2pqxibKqg287MNH/IWzbttbY2raf58gwTZbzsZYXNfFtVry/TjAkUZrsQeQ==</vt:lpwstr>
  </op:property>
  <op:property fmtid="{D5CDD505-2E9C-101B-9397-08002B2CF9AE}" pid="7" name="_IPGLAB_P-BEED_E-1_CV-6620508A_CN-9CE51271">
    <vt:lpwstr>RfPczCicgYxPaG0sVxp4xrFKuvFYfoJtzSBZ3egrY5HR/Dg6qcULUGj+ulaabN65bfEcvMnpmitvXomiHAQaig==</vt:lpwstr>
  </op:property>
</op:Properties>
</file>
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07" r:id="rId3"/>
    <p:sldId id="306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48E"/>
    <a:srgbClr val="D8E6FE"/>
    <a:srgbClr val="DDE8FE"/>
    <a:srgbClr val="0A2345"/>
    <a:srgbClr val="6F3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26" y="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24D0-966E-ACE1-8357-AF9CCBADF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F2DFC-E28A-AD11-2EB6-43D02FF45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2833B-1D9E-9000-EDD4-7BCA1E79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DE6CA-9A90-0C45-ECBE-BDB7872E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EEFA8-8191-AC7C-650C-999176B0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5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FEB1-DF0E-BC23-C1F9-179B9FA8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1A12-A446-F729-EA34-0A943A45C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BE005-3041-09C5-6A77-D064CB81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8A42E-BB3B-F19A-970D-886853D8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DB982-1F45-E4A9-8884-9DFC5FCA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A2DF-FE2E-7AB8-205E-C6C1C22CD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51EAF-3678-5B28-3BDA-86F5814B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965C5-2904-5CE2-25CF-0D0A93FC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3B857-FBD5-852E-D192-CDF3777A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C9C8C-7996-8B47-C65E-1C2FBBA2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3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E55D-5A5E-84FA-7E9E-51FFC010F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4B62B-E249-5911-C2F6-0369B78C7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36DD8-8422-6F71-EA0E-6F58E0D16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47FEF-FCD2-909E-BE4D-ABAED0FC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DAB46-D7AE-07CA-4821-2B731DEF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1F0D6-2DAC-27FA-0CB6-D6A6BB51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8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132A-69C9-9847-5C1D-793CF8FF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C6146-AAF7-B361-94BB-536B25B03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8A0E0-5D09-92C2-FC58-EA4965532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3C719-6F66-BB87-3EF7-CA497B6EB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D0812-2234-5B7F-345A-C3BB04886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53C03-0635-3C6C-8AFE-19F71040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2DF36-AE57-5981-FC89-60EDABC7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68F6B-ACC3-7424-CD8A-BD2BC92B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87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FF7B-B792-FC4E-5727-ECE639C4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A95BD-B3A2-3B84-3782-46151400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7F91C-EB10-4DBB-84CC-906129BB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14B84-CA59-5C46-7718-186D9E3F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C7F7C-6D90-D273-DCAA-03267110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C2132-5E39-FCEE-2C64-670CDCF2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FE1A-2D2F-6AF2-E99B-A8283C1A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6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285C-0B03-DBBD-0C57-F1F85C1E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EDA9-DCAE-D9D3-A3FF-92185EF8F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3300E-3B23-E4F8-21C3-61D7788F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994C0-2DB6-66E7-3E08-3355D163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C440A-9297-041C-8F40-94ACC8D9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AE0C5-CD6E-CCAA-47C2-015CA6DE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92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D1B2-5D44-A533-8DE5-402FBB7B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1C1E9-FAC2-4A58-DFB9-9B1F5F663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28C5D-6124-1E7A-5CA0-134AACE25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6A8C8-4E05-784A-C667-42AF2F24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8013E-9B0D-767F-1000-CA205ABD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40B1D-19F4-5B7F-9A13-DB93279A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7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4A0D-A603-EE68-1F5F-66B5E249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63831-A4F1-C17F-0694-66A702E8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4761E-CA60-789F-C3A3-57B671344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B9258-7B7C-1FB2-0B74-C2D7B660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83021-4F30-C45E-213B-D5562EFF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19DD4-97FA-8C31-2FA5-9E5184D06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12384-5924-2D12-0FD5-49098CCE8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A105F-594D-6493-2B53-D3565D30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0D7C-3E48-D4B0-8E45-68363126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C365-2ED7-206A-7511-6F50F576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4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BC97A-9499-EB48-1855-4306982E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96DAE-F106-1D93-B14D-BA507575B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2D7E0-5717-994D-B291-36F05E990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AFDB6-B872-4FA1-8FFA-22E8A5244EF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9B25-E6E9-8DD5-C507-0ADC59EEF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1B7EF-9625-3808-20B2-2DAA50E90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EBEC8-CDDB-4593-85E9-577037DA7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DE1C-E602-9EEE-B93C-479F305B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1750E1-1C46-D24E-E4A4-1DAD42286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D5F34-7E09-8DFA-AC53-CC3E8DE96C0C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45A807-82DA-AF1B-D1FD-6E33C6B20D97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FEDD2D9-FD80-7881-DD95-65F0E0B8FE60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D54E1-3765-9717-18AA-5B8786C89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0594B-97D1-6A59-73B9-62764C8B0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674600" cy="844973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E5719A-C4B9-9BF6-5FD6-AA1183597919}"/>
              </a:ext>
            </a:extLst>
          </p:cNvPr>
          <p:cNvSpPr/>
          <p:nvPr/>
        </p:nvSpPr>
        <p:spPr>
          <a:xfrm>
            <a:off x="100058" y="1431099"/>
            <a:ext cx="7795549" cy="4838217"/>
          </a:xfrm>
          <a:prstGeom prst="roundRect">
            <a:avLst/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0153A3-BDF2-ABA0-9F1B-453CF43824AB}"/>
              </a:ext>
            </a:extLst>
          </p:cNvPr>
          <p:cNvSpPr txBox="1">
            <a:spLocks/>
          </p:cNvSpPr>
          <p:nvPr/>
        </p:nvSpPr>
        <p:spPr>
          <a:xfrm>
            <a:off x="385424" y="935697"/>
            <a:ext cx="7364647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ja-JP" altLang="en-US" sz="7000" b="1" dirty="0">
                <a:solidFill>
                  <a:srgbClr val="0A234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婴护慧眼机器</a:t>
            </a:r>
            <a:r>
              <a:rPr lang="zh-CN" altLang="en-US" sz="7000" b="1" dirty="0">
                <a:solidFill>
                  <a:srgbClr val="0A234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</a:t>
            </a:r>
            <a:endParaRPr lang="en-US" altLang="zh-CN" sz="7000" b="1" dirty="0">
              <a:solidFill>
                <a:srgbClr val="0A2345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4000" b="1" dirty="0">
                <a:solidFill>
                  <a:srgbClr val="0A234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4000" b="1" dirty="0">
                <a:solidFill>
                  <a:srgbClr val="0A234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为保育员解决“清洁盲区”的</a:t>
            </a:r>
            <a:r>
              <a:rPr lang="en-US" altLang="zh-CN" sz="4000" b="1" dirty="0">
                <a:solidFill>
                  <a:srgbClr val="0A234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rgbClr val="0A2345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视觉清洁伴侣</a:t>
            </a:r>
            <a:endParaRPr lang="en-US" altLang="zh-CN" sz="4000" b="1" dirty="0">
              <a:solidFill>
                <a:srgbClr val="0A2345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4000" b="1" dirty="0">
              <a:solidFill>
                <a:srgbClr val="0A2345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29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4740-4A40-02CB-6CCE-E6050628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5E6007-7AEF-283A-29AF-1C72851F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359" y="242307"/>
            <a:ext cx="2878803" cy="6669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C9A96F-A1F1-F9D8-8CF2-603ABEF70A66}"/>
              </a:ext>
            </a:extLst>
          </p:cNvPr>
          <p:cNvCxnSpPr/>
          <p:nvPr/>
        </p:nvCxnSpPr>
        <p:spPr>
          <a:xfrm>
            <a:off x="503816" y="889110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DFF77C-51E1-67C9-71E6-8A38F154148C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45B049E-3F1F-D950-CFC1-7961DA3A5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12" y="381768"/>
            <a:ext cx="2640814" cy="399857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305C74C-992A-1C11-2733-8B3772EEA66D}"/>
              </a:ext>
            </a:extLst>
          </p:cNvPr>
          <p:cNvSpPr/>
          <p:nvPr/>
        </p:nvSpPr>
        <p:spPr>
          <a:xfrm>
            <a:off x="503816" y="1028571"/>
            <a:ext cx="11326234" cy="1524810"/>
          </a:xfrm>
          <a:prstGeom prst="roundRect">
            <a:avLst/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45011-724C-9A1E-3428-CC1556A12B83}"/>
              </a:ext>
            </a:extLst>
          </p:cNvPr>
          <p:cNvSpPr txBox="1"/>
          <p:nvPr/>
        </p:nvSpPr>
        <p:spPr>
          <a:xfrm>
            <a:off x="848734" y="1048671"/>
            <a:ext cx="10651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保育员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zh-CN" altLang="en-US" sz="4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清洁地面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时，正面临“顾得了地面就顾不了孩子”的安全困境。</a:t>
            </a:r>
            <a:endParaRPr lang="en-US" sz="4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DEFCBF-E211-2325-A866-A797D592DE50}"/>
              </a:ext>
            </a:extLst>
          </p:cNvPr>
          <p:cNvSpPr/>
          <p:nvPr/>
        </p:nvSpPr>
        <p:spPr>
          <a:xfrm>
            <a:off x="603874" y="2692841"/>
            <a:ext cx="7428876" cy="3008107"/>
          </a:xfrm>
          <a:prstGeom prst="roundRect">
            <a:avLst/>
          </a:prstGeom>
          <a:solidFill>
            <a:srgbClr val="DDE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3DBC49-0807-12DB-8B0A-A9CD0329B0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508"/>
          <a:stretch>
            <a:fillRect/>
          </a:stretch>
        </p:blipFill>
        <p:spPr>
          <a:xfrm>
            <a:off x="8141622" y="2672741"/>
            <a:ext cx="3688428" cy="3008108"/>
          </a:xfrm>
          <a:prstGeom prst="round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F66757-843F-519A-BA2F-4D7ED9995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51" y="249243"/>
            <a:ext cx="2459499" cy="6122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DEF51D6-551B-609C-C244-6D42CB2C2E38}"/>
              </a:ext>
            </a:extLst>
          </p:cNvPr>
          <p:cNvSpPr txBox="1"/>
          <p:nvPr/>
        </p:nvSpPr>
        <p:spPr>
          <a:xfrm>
            <a:off x="603874" y="2933905"/>
            <a:ext cx="73780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highlight>
                  <a:srgbClr val="C0C0C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用户想要：</a:t>
            </a:r>
            <a:r>
              <a:rPr lang="zh-CN" altLang="en-US" sz="3000" dirty="0">
                <a:latin typeface="SimSun" panose="02010600030101010101" pitchFamily="2" charset="-122"/>
                <a:ea typeface="SimSun" panose="02010600030101010101" pitchFamily="2" charset="-122"/>
              </a:rPr>
              <a:t> 高效完成地面清洁并确保婴幼儿安全</a:t>
            </a:r>
          </a:p>
          <a:p>
            <a:r>
              <a:rPr lang="zh-CN" altLang="en-US" sz="3000" b="1" dirty="0">
                <a:highlight>
                  <a:srgbClr val="C0C0C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   但是： </a:t>
            </a:r>
            <a:r>
              <a:rPr lang="zh-CN" altLang="en-US" sz="3000" dirty="0">
                <a:latin typeface="SimSun" panose="02010600030101010101" pitchFamily="2" charset="-122"/>
                <a:ea typeface="SimSun" panose="02010600030101010101" pitchFamily="2" charset="-122"/>
              </a:rPr>
              <a:t> 低头拖地就看不到孩子，抬头看孩子就漏掉地面污渍和危险小物件</a:t>
            </a:r>
          </a:p>
          <a:p>
            <a:r>
              <a:rPr lang="zh-CN" altLang="en-US" sz="3000" b="1" dirty="0">
                <a:highlight>
                  <a:srgbClr val="C0C0C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最终导致：</a:t>
            </a:r>
            <a:r>
              <a:rPr lang="zh-CN" altLang="en-US" sz="3000" dirty="0">
                <a:latin typeface="SimSun" panose="02010600030101010101" pitchFamily="2" charset="-122"/>
                <a:ea typeface="SimSun" panose="02010600030101010101" pitchFamily="2" charset="-122"/>
              </a:rPr>
              <a:t> 精神高度紧张、清洁效果打折</a:t>
            </a:r>
            <a:endParaRPr lang="en-US" sz="3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041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B13A-C46A-5FDB-DA6F-80B0FA7F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F56366-B644-A76A-D633-B8A050E3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359" y="242307"/>
            <a:ext cx="2878803" cy="6669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B584A9-8B25-4162-FC46-021F9C06AC08}"/>
              </a:ext>
            </a:extLst>
          </p:cNvPr>
          <p:cNvCxnSpPr/>
          <p:nvPr/>
        </p:nvCxnSpPr>
        <p:spPr>
          <a:xfrm>
            <a:off x="503816" y="889110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5FFC0-89AC-6E09-ED5B-F58AF59C82A8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3A541DF-5F59-1FB7-9809-758A0F01F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12" y="381768"/>
            <a:ext cx="2640814" cy="39985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F632D5-5E48-AF00-E547-E7A9D24F9D02}"/>
              </a:ext>
            </a:extLst>
          </p:cNvPr>
          <p:cNvSpPr/>
          <p:nvPr/>
        </p:nvSpPr>
        <p:spPr>
          <a:xfrm>
            <a:off x="492358" y="1033390"/>
            <a:ext cx="4793787" cy="2359507"/>
          </a:xfrm>
          <a:prstGeom prst="roundRect">
            <a:avLst/>
          </a:prstGeom>
          <a:solidFill>
            <a:srgbClr val="DDE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FEF9B38-61AA-7446-05D7-AC86B0479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51" y="249243"/>
            <a:ext cx="2459499" cy="6122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D183B59-F5E5-82DB-1151-FC8EB2FBC1A3}"/>
              </a:ext>
            </a:extLst>
          </p:cNvPr>
          <p:cNvSpPr txBox="1"/>
          <p:nvPr/>
        </p:nvSpPr>
        <p:spPr>
          <a:xfrm>
            <a:off x="675502" y="1086066"/>
            <a:ext cx="442749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证据</a:t>
            </a:r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 01 | </a:t>
            </a:r>
          </a:p>
          <a:p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“</a:t>
            </a:r>
            <a:r>
              <a:rPr lang="en-US" sz="22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我一天要拖五六遍地，但眼睛根本不敢离开孩子</a:t>
            </a:r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——</a:t>
            </a:r>
            <a:r>
              <a:rPr lang="en-US" sz="22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地上掉了什么我都来不及看</a:t>
            </a:r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。”</a:t>
            </a:r>
            <a:r>
              <a:rPr lang="en-US" dirty="0"/>
              <a:t> </a:t>
            </a:r>
          </a:p>
          <a:p>
            <a:r>
              <a:rPr lang="en-US" dirty="0"/>
              <a:t>📍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来源：</a:t>
            </a: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某托育中心保育员，工作5年，负责12名2-3岁婴幼儿</a:t>
            </a:r>
          </a:p>
          <a:p>
            <a:endParaRPr lang="en-US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9E273BE-200C-102E-6D4A-28B0C2921F03}"/>
              </a:ext>
            </a:extLst>
          </p:cNvPr>
          <p:cNvGraphicFramePr>
            <a:graphicFrameLocks noGrp="1"/>
          </p:cNvGraphicFramePr>
          <p:nvPr/>
        </p:nvGraphicFramePr>
        <p:xfrm>
          <a:off x="5685036" y="1711378"/>
          <a:ext cx="5903090" cy="33630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51545">
                  <a:extLst>
                    <a:ext uri="{9D8B030D-6E8A-4147-A177-3AD203B41FA5}">
                      <a16:colId xmlns:a16="http://schemas.microsoft.com/office/drawing/2014/main" val="2246866542"/>
                    </a:ext>
                  </a:extLst>
                </a:gridCol>
                <a:gridCol w="2951545">
                  <a:extLst>
                    <a:ext uri="{9D8B030D-6E8A-4147-A177-3AD203B41FA5}">
                      <a16:colId xmlns:a16="http://schemas.microsoft.com/office/drawing/2014/main" val="4106700302"/>
                    </a:ext>
                  </a:extLst>
                </a:gridCol>
              </a:tblGrid>
              <a:tr h="5035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现有做法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为什么不够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232516"/>
                  </a:ext>
                </a:extLst>
              </a:tr>
              <a:tr h="835378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肉眼扫视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 + 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手动拖擦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小物件和透明</a:t>
                      </a:r>
                      <a:r>
                        <a:rPr lang="zh-CN" altLang="en-US" sz="2400" b="0" i="0" kern="1200" dirty="0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污渍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肉眼极易漏看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341501"/>
                  </a:ext>
                </a:extLst>
              </a:tr>
              <a:tr h="835378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一边拖地一边看孩子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两头分心，清洁效率和监护质量双双下降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353763"/>
                  </a:ext>
                </a:extLst>
              </a:tr>
              <a:tr h="835378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普通扫地机清扫地面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分不清“玩具零件”和“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真正垃圾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”，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吸进去卡机</a:t>
                      </a:r>
                      <a:endParaRPr lang="en-US" sz="2400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326952"/>
                  </a:ext>
                </a:extLst>
              </a:tr>
            </a:tbl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2DE508-3A7E-20FB-3D97-3257544F4D69}"/>
              </a:ext>
            </a:extLst>
          </p:cNvPr>
          <p:cNvSpPr/>
          <p:nvPr/>
        </p:nvSpPr>
        <p:spPr>
          <a:xfrm>
            <a:off x="492358" y="3551527"/>
            <a:ext cx="4793787" cy="2359507"/>
          </a:xfrm>
          <a:prstGeom prst="roundRect">
            <a:avLst/>
          </a:prstGeom>
          <a:solidFill>
            <a:srgbClr val="DDE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0B8060-7FA6-A4A2-435D-078770F31AFD}"/>
              </a:ext>
            </a:extLst>
          </p:cNvPr>
          <p:cNvSpPr txBox="1"/>
          <p:nvPr/>
        </p:nvSpPr>
        <p:spPr>
          <a:xfrm>
            <a:off x="675502" y="3600955"/>
            <a:ext cx="44930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证据</a:t>
            </a:r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 02 | </a:t>
            </a:r>
          </a:p>
          <a:p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10分钟活动时间内，3名保育员平均低头看地面22次、抬头看孩子47次——切换频率高达每分钟7</a:t>
            </a:r>
            <a:r>
              <a:rPr lang="zh-CN" alt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次</a:t>
            </a:r>
            <a:r>
              <a:rPr lang="en-US" sz="2200" b="1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📊来源：2-3岁托育班活动后清洁时段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观察</a:t>
            </a:r>
            <a:endParaRPr lang="en-US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829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E9C7-A15B-7AAE-7670-F8BDE845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84D54D-5DD0-A403-C148-634B86567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359" y="242307"/>
            <a:ext cx="2878803" cy="6669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91D660-49EB-B190-B50D-1DC1CD7A8660}"/>
              </a:ext>
            </a:extLst>
          </p:cNvPr>
          <p:cNvCxnSpPr/>
          <p:nvPr/>
        </p:nvCxnSpPr>
        <p:spPr>
          <a:xfrm>
            <a:off x="503816" y="889110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0291E3-FFDD-FB30-61B6-C07221DA626C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349A4A8-46E2-78B5-A3E0-BB28B5D2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12" y="381768"/>
            <a:ext cx="2640814" cy="399857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D96FAC2-CD03-F97C-DC0A-8C871FDFA601}"/>
              </a:ext>
            </a:extLst>
          </p:cNvPr>
          <p:cNvSpPr/>
          <p:nvPr/>
        </p:nvSpPr>
        <p:spPr>
          <a:xfrm>
            <a:off x="654287" y="2196597"/>
            <a:ext cx="11033897" cy="1611067"/>
          </a:xfrm>
          <a:prstGeom prst="roundRect">
            <a:avLst/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E9C4F-BAEB-6DE5-EAB6-E7D111A0AF7D}"/>
              </a:ext>
            </a:extLst>
          </p:cNvPr>
          <p:cNvSpPr txBox="1"/>
          <p:nvPr/>
        </p:nvSpPr>
        <p:spPr>
          <a:xfrm>
            <a:off x="770442" y="985768"/>
            <a:ext cx="10651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我们的产品通过</a:t>
            </a:r>
            <a:r>
              <a:rPr lang="en-US" sz="3500" b="1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AI视觉识别+危险分级</a:t>
            </a:r>
            <a:r>
              <a:rPr lang="en-US" sz="35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，帮助保育员从“盯着地面”变成“看着孩子</a:t>
            </a:r>
            <a:r>
              <a:rPr lang="en-US" sz="3500" b="1" dirty="0">
                <a:latin typeface="SimSun" panose="02010600030101010101" pitchFamily="2" charset="-122"/>
                <a:ea typeface="SimSun" panose="02010600030101010101" pitchFamily="2" charset="-122"/>
              </a:rPr>
              <a:t>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19B242-9145-520A-4959-B8209389C05D}"/>
              </a:ext>
            </a:extLst>
          </p:cNvPr>
          <p:cNvSpPr/>
          <p:nvPr/>
        </p:nvSpPr>
        <p:spPr>
          <a:xfrm>
            <a:off x="706056" y="3883154"/>
            <a:ext cx="3553428" cy="2213574"/>
          </a:xfrm>
          <a:prstGeom prst="roundRect">
            <a:avLst/>
          </a:prstGeom>
          <a:solidFill>
            <a:srgbClr val="DDE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F620E8-7C47-38EE-5EA9-F97AECEE9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51" y="249243"/>
            <a:ext cx="2459499" cy="6122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DF47107-7A0F-E3DB-98BD-6B52A3C112A0}"/>
              </a:ext>
            </a:extLst>
          </p:cNvPr>
          <p:cNvSpPr txBox="1"/>
          <p:nvPr/>
        </p:nvSpPr>
        <p:spPr>
          <a:xfrm>
            <a:off x="770442" y="2272087"/>
            <a:ext cx="110402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产品形态</a:t>
            </a:r>
            <a:endParaRPr lang="en-US" sz="2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200" dirty="0" err="1">
                <a:latin typeface="SimSun" panose="02010600030101010101" pitchFamily="2" charset="-122"/>
                <a:ea typeface="SimSun" panose="02010600030101010101" pitchFamily="2" charset="-122"/>
              </a:rPr>
              <a:t>智能硬件+手机端反馈界面</a:t>
            </a:r>
            <a:endParaRPr lang="en-US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2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核心方案</a:t>
            </a:r>
            <a:endParaRPr lang="en-US" sz="2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200" dirty="0" err="1">
                <a:latin typeface="SimSun" panose="02010600030101010101" pitchFamily="2" charset="-122"/>
                <a:ea typeface="SimSun" panose="02010600030101010101" pitchFamily="2" charset="-122"/>
              </a:rPr>
              <a:t>AI按危险等级（红</a:t>
            </a: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/黄/绿）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识别并</a:t>
            </a:r>
            <a:r>
              <a:rPr lang="en-US" sz="2200" dirty="0" err="1">
                <a:latin typeface="SimSun" panose="02010600030101010101" pitchFamily="2" charset="-122"/>
                <a:ea typeface="SimSun" panose="02010600030101010101" pitchFamily="2" charset="-122"/>
              </a:rPr>
              <a:t>分级处理，保育员只看手机就能掌握地面安全状况</a:t>
            </a:r>
            <a:r>
              <a:rPr lang="en-US" sz="22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endParaRPr lang="en-US" sz="2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D47D834-3B41-0E3A-FAF2-537D8EFC9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399191"/>
              </p:ext>
            </p:extLst>
          </p:nvPr>
        </p:nvGraphicFramePr>
        <p:xfrm>
          <a:off x="893706" y="4354775"/>
          <a:ext cx="3178128" cy="1608794"/>
        </p:xfrm>
        <a:graphic>
          <a:graphicData uri="http://schemas.openxmlformats.org/drawingml/2006/table">
            <a:tbl>
              <a:tblPr/>
              <a:tblGrid>
                <a:gridCol w="876690">
                  <a:extLst>
                    <a:ext uri="{9D8B030D-6E8A-4147-A177-3AD203B41FA5}">
                      <a16:colId xmlns:a16="http://schemas.microsoft.com/office/drawing/2014/main" val="1694312739"/>
                    </a:ext>
                  </a:extLst>
                </a:gridCol>
                <a:gridCol w="2301438">
                  <a:extLst>
                    <a:ext uri="{9D8B030D-6E8A-4147-A177-3AD203B41FA5}">
                      <a16:colId xmlns:a16="http://schemas.microsoft.com/office/drawing/2014/main" val="4092089637"/>
                    </a:ext>
                  </a:extLst>
                </a:gridCol>
              </a:tblGrid>
              <a:tr h="4713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对应问题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64303" marR="42869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判断</a:t>
                      </a:r>
                      <a:r>
                        <a:rPr lang="zh-CN" alt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什么东西怎么处理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2869" marR="64303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02374"/>
                  </a:ext>
                </a:extLst>
              </a:tr>
              <a:tr h="113747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用户获得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64303" marR="42869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🟥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红色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报警推送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🟨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黄色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标记位置优先清洁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🟩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绿色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常规清扫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。</a:t>
                      </a:r>
                    </a:p>
                  </a:txBody>
                  <a:tcPr marL="42869" marR="64303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0363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3EAC2CF5-EF11-CB49-822C-90C76634E7CA}"/>
              </a:ext>
            </a:extLst>
          </p:cNvPr>
          <p:cNvSpPr txBox="1"/>
          <p:nvPr/>
        </p:nvSpPr>
        <p:spPr>
          <a:xfrm>
            <a:off x="841422" y="3963630"/>
            <a:ext cx="3178128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F11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01 | </a:t>
            </a:r>
            <a:r>
              <a:rPr lang="en-US" sz="2000" b="1" dirty="0" err="1">
                <a:solidFill>
                  <a:srgbClr val="0F11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红黄绿危险分级</a:t>
            </a:r>
            <a:endParaRPr lang="en-US" sz="2000" b="1" dirty="0">
              <a:solidFill>
                <a:srgbClr val="0F11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46A429E-4286-6BC3-7C64-3D77152E9477}"/>
              </a:ext>
            </a:extLst>
          </p:cNvPr>
          <p:cNvSpPr/>
          <p:nvPr/>
        </p:nvSpPr>
        <p:spPr>
          <a:xfrm>
            <a:off x="4394850" y="3910215"/>
            <a:ext cx="3553428" cy="2213574"/>
          </a:xfrm>
          <a:prstGeom prst="roundRect">
            <a:avLst/>
          </a:prstGeom>
          <a:solidFill>
            <a:srgbClr val="DDE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68FA1A0-1070-3A42-1976-09A212373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628244"/>
              </p:ext>
            </p:extLst>
          </p:nvPr>
        </p:nvGraphicFramePr>
        <p:xfrm>
          <a:off x="4582500" y="4381836"/>
          <a:ext cx="3178128" cy="1608794"/>
        </p:xfrm>
        <a:graphic>
          <a:graphicData uri="http://schemas.openxmlformats.org/drawingml/2006/table">
            <a:tbl>
              <a:tblPr/>
              <a:tblGrid>
                <a:gridCol w="876690">
                  <a:extLst>
                    <a:ext uri="{9D8B030D-6E8A-4147-A177-3AD203B41FA5}">
                      <a16:colId xmlns:a16="http://schemas.microsoft.com/office/drawing/2014/main" val="1694312739"/>
                    </a:ext>
                  </a:extLst>
                </a:gridCol>
                <a:gridCol w="2301438">
                  <a:extLst>
                    <a:ext uri="{9D8B030D-6E8A-4147-A177-3AD203B41FA5}">
                      <a16:colId xmlns:a16="http://schemas.microsoft.com/office/drawing/2014/main" val="4092089637"/>
                    </a:ext>
                  </a:extLst>
                </a:gridCol>
              </a:tblGrid>
              <a:tr h="4713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对应问题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64303" marR="42869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判断</a:t>
                      </a:r>
                      <a:r>
                        <a:rPr lang="zh-CN" alt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什么东西怎么处理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2869" marR="64303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02374"/>
                  </a:ext>
                </a:extLst>
              </a:tr>
              <a:tr h="113747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用户获得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64303" marR="42869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🟥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红色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报警推送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🟨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黄色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标记位置优先清洁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🟩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绿色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常规清扫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。</a:t>
                      </a:r>
                    </a:p>
                  </a:txBody>
                  <a:tcPr marL="42869" marR="64303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03632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01B44D57-CCD2-9C39-D259-15708B0AFEA2}"/>
              </a:ext>
            </a:extLst>
          </p:cNvPr>
          <p:cNvSpPr txBox="1"/>
          <p:nvPr/>
        </p:nvSpPr>
        <p:spPr>
          <a:xfrm>
            <a:off x="4530216" y="3990691"/>
            <a:ext cx="3337434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F11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02 |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危险物品辅助处理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indent="0"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en-US" sz="2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A04FFD2-56C5-FCB6-C8C1-2EA9BC72752A}"/>
              </a:ext>
            </a:extLst>
          </p:cNvPr>
          <p:cNvSpPr/>
          <p:nvPr/>
        </p:nvSpPr>
        <p:spPr>
          <a:xfrm>
            <a:off x="8242480" y="3903434"/>
            <a:ext cx="3553428" cy="2213574"/>
          </a:xfrm>
          <a:prstGeom prst="roundRect">
            <a:avLst/>
          </a:prstGeom>
          <a:solidFill>
            <a:srgbClr val="DDE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E2388885-91C8-DC88-6AD3-0DD8EF12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22581"/>
              </p:ext>
            </p:extLst>
          </p:nvPr>
        </p:nvGraphicFramePr>
        <p:xfrm>
          <a:off x="8430130" y="4375055"/>
          <a:ext cx="3178128" cy="1608794"/>
        </p:xfrm>
        <a:graphic>
          <a:graphicData uri="http://schemas.openxmlformats.org/drawingml/2006/table">
            <a:tbl>
              <a:tblPr/>
              <a:tblGrid>
                <a:gridCol w="876690">
                  <a:extLst>
                    <a:ext uri="{9D8B030D-6E8A-4147-A177-3AD203B41FA5}">
                      <a16:colId xmlns:a16="http://schemas.microsoft.com/office/drawing/2014/main" val="1694312739"/>
                    </a:ext>
                  </a:extLst>
                </a:gridCol>
                <a:gridCol w="2301438">
                  <a:extLst>
                    <a:ext uri="{9D8B030D-6E8A-4147-A177-3AD203B41FA5}">
                      <a16:colId xmlns:a16="http://schemas.microsoft.com/office/drawing/2014/main" val="4092089637"/>
                    </a:ext>
                  </a:extLst>
                </a:gridCol>
              </a:tblGrid>
              <a:tr h="4713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对应问题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64303" marR="42869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判断</a:t>
                      </a:r>
                      <a:r>
                        <a:rPr lang="zh-CN" alt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什么东西怎么处理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2869" marR="64303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02374"/>
                  </a:ext>
                </a:extLst>
              </a:tr>
              <a:tr h="113747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用户获得</a:t>
                      </a:r>
                      <a:endParaRPr lang="en-US" sz="1500" b="0" dirty="0">
                        <a:ln>
                          <a:noFill/>
                        </a:ln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64303" marR="42869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🟥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红色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报警推送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🟨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黄色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标记位置优先清洁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；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🟩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绿色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→ </a:t>
                      </a:r>
                      <a:r>
                        <a:rPr lang="en-US" sz="1500" b="0" dirty="0" err="1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常规清扫</a:t>
                      </a:r>
                      <a:r>
                        <a:rPr lang="en-US" sz="1500" b="0" dirty="0">
                          <a:ln>
                            <a:noFill/>
                          </a:ln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。</a:t>
                      </a:r>
                    </a:p>
                  </a:txBody>
                  <a:tcPr marL="42869" marR="64303" marT="26793" marB="267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03632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D8A9B305-3EC7-6394-DFCB-99186003B7FE}"/>
              </a:ext>
            </a:extLst>
          </p:cNvPr>
          <p:cNvSpPr txBox="1"/>
          <p:nvPr/>
        </p:nvSpPr>
        <p:spPr>
          <a:xfrm>
            <a:off x="8377846" y="3983910"/>
            <a:ext cx="3814154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F11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03 |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日志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 +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二维码溯源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indent="0"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en-US" sz="2000" b="1" dirty="0">
              <a:solidFill>
                <a:srgbClr val="0F11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075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B2331-E8FF-4DD1-49EA-51205AE0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E29513-9F30-1253-F331-17766C9C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FD0DF8-1F45-48E0-F537-8AE118206D49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7429B2-BF0C-CB83-A640-31559F314F75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34C268-BB4C-FA18-236A-B0AA1F33EB26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7BA3E-946B-4C08-4DB9-E2855506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9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C7D7-A0DB-9612-79CE-C201DF5C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69C237-49BE-7E3F-CF32-FA8B13F0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3BF75A-1EE0-2DF5-F68E-D2C9FEA33393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4B218A-F2D8-0057-E473-D329628302A4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7D60EAD-5014-8B47-9F38-147AB66DA6E1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0E3FC-F4C0-CFE1-2C08-A844567BC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9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DD956-1AA1-3636-DB34-6DA38133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4F5EEB-B2A8-868A-F19E-4C667553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732E3D-9518-1857-5F98-7C1180B807BD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791AD5-1775-298B-0047-22123DEE3A47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B5743D-4868-773B-BBD8-27FFD0EED914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91E8F-5011-3A01-80F2-85E6C3654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34F8-1DA1-89A7-3418-38F4D91D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B7867E-8435-E00D-5359-746906F88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938DF4-4820-6021-BF4C-FA973563313C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8EC843-6F5F-63BD-F86C-EE8283ACAC63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1F87D0-951A-A8B6-5BE2-C42FAD1351D8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4B7C5-F5F1-DAAB-26D3-575C0AB1C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4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593F-3D09-AC9F-A254-F8777D67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8E3630-DE17-7593-337E-FE8BA6C3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7CF3EC-D986-BA7F-EC5A-4EF7E663825F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EA188C-AFDC-4904-9477-256ACAA841C1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BB299C-DBFC-4B51-4455-DC9B85EE0991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3AD25-4DB4-98CC-98FB-E019392B7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2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624F2-F9B6-3E56-0051-33460616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46AD05-1DA4-49DB-5DD5-D87F93077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F3C92C-0630-D03D-7DB8-5B10338D86B0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AEFEE5-34C4-A7AB-66C1-0CB61827BDA5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C3F008-B6CD-9275-8AF2-727DDBCDA2EA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547C3-80C0-7D2F-EB43-81CDC582D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7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6B05-A28A-2370-28EC-5BE29A14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612CFC-0694-0482-8626-C20B86490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690BEE-4C59-62B4-4CBC-DFEF37322FCB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9C9A3A-615D-3AC4-9D23-D0C86196D4B7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B13EC95-2B79-62FF-3ED6-8A2B83896A8F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80EB4-1B77-FD60-E231-ED0E30B03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6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8367-560B-1EB1-24F0-3C339E8B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40F73B-5F14-37A6-6F80-F2C47B7F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4" y="102751"/>
            <a:ext cx="3688428" cy="8544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9A08E5-CCB0-F354-6D48-B3D2E8B387C7}"/>
              </a:ext>
            </a:extLst>
          </p:cNvPr>
          <p:cNvCxnSpPr/>
          <p:nvPr/>
        </p:nvCxnSpPr>
        <p:spPr>
          <a:xfrm>
            <a:off x="603874" y="935697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C58035-011A-7763-2C7F-DFA2DDC2F362}"/>
              </a:ext>
            </a:extLst>
          </p:cNvPr>
          <p:cNvCxnSpPr/>
          <p:nvPr/>
        </p:nvCxnSpPr>
        <p:spPr>
          <a:xfrm>
            <a:off x="603874" y="6262743"/>
            <a:ext cx="110843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4D8838-49B4-4E6C-8523-BC3E80A8BAD2}"/>
              </a:ext>
            </a:extLst>
          </p:cNvPr>
          <p:cNvSpPr txBox="1">
            <a:spLocks/>
          </p:cNvSpPr>
          <p:nvPr/>
        </p:nvSpPr>
        <p:spPr>
          <a:xfrm>
            <a:off x="708696" y="595256"/>
            <a:ext cx="6718105" cy="6188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000" b="1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US" altLang="zh-CN" sz="3000" b="1" dirty="0">
              <a:solidFill>
                <a:srgbClr val="2563EB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b="1" dirty="0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产品名称</a:t>
            </a:r>
            <a:r>
              <a:rPr lang="en-US" altLang="zh-CN" sz="7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1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目标用户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解决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核心问题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的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AI[</a:t>
            </a:r>
            <a:r>
              <a:rPr lang="zh-CN" altLang="en-US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产品类型</a:t>
            </a:r>
            <a:r>
              <a:rPr lang="en-US" altLang="zh-CN" sz="4000" b="1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</a:t>
            </a:r>
            <a:r>
              <a:rPr lang="en-US" altLang="zh-CN" sz="3000" b="1" dirty="0" err="1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eepBrains@CUHKSZ</a:t>
            </a:r>
            <a:r>
              <a:rPr lang="en-US" altLang="zh-CN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·</a:t>
            </a:r>
            <a:r>
              <a:rPr lang="zh-CN" altLang="en-US" sz="3000" b="1" dirty="0">
                <a:solidFill>
                  <a:srgbClr val="6F37F4"/>
                </a:solidFill>
                <a:latin typeface="SimSun" panose="02010600030101010101" pitchFamily="2" charset="-122"/>
                <a:ea typeface="SimSun" panose="02010600030101010101" pitchFamily="2" charset="-122"/>
                <a:cs typeface="Noto Sans CJK SC"/>
              </a:rPr>
              <a:t>香港中文大学（深圳）</a:t>
            </a:r>
            <a:endParaRPr lang="en-US" sz="3000" b="1" dirty="0">
              <a:solidFill>
                <a:srgbClr val="6F37F4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2B1E6-98D6-7C7A-D0E6-F6D131742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35" y="346670"/>
            <a:ext cx="2640814" cy="3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7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738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quote-cjk-patch</vt:lpstr>
      <vt:lpstr>SimSun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 21</dc:creator>
  <cp:lastModifiedBy>Yulin Liu (SSE,125090439)</cp:lastModifiedBy>
  <cp:revision>5</cp:revision>
  <dcterms:created xsi:type="dcterms:W3CDTF">2026-02-28T10:20:28Z</dcterms:created>
  <dcterms:modified xsi:type="dcterms:W3CDTF">2026-08-05T03:47:15Z</dcterms:modified>
</cp:coreProperties>
</file>